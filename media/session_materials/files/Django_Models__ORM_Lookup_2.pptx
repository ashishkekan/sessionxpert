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19"/>
  </p:notesMasterIdLst>
  <p:sldIdLst>
    <p:sldId id="256" r:id="rId2"/>
    <p:sldId id="267" r:id="rId3"/>
    <p:sldId id="266" r:id="rId4"/>
    <p:sldId id="271" r:id="rId5"/>
    <p:sldId id="272" r:id="rId6"/>
    <p:sldId id="259" r:id="rId7"/>
    <p:sldId id="263" r:id="rId8"/>
    <p:sldId id="268" r:id="rId9"/>
    <p:sldId id="269" r:id="rId10"/>
    <p:sldId id="270" r:id="rId11"/>
    <p:sldId id="276" r:id="rId12"/>
    <p:sldId id="277" r:id="rId13"/>
    <p:sldId id="275" r:id="rId14"/>
    <p:sldId id="281" r:id="rId15"/>
    <p:sldId id="278" r:id="rId16"/>
    <p:sldId id="279" r:id="rId17"/>
    <p:sldId id="28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4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B4D5A-BB1D-4700-BB6C-B7895FDC618B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CF73F-8F87-4A4A-95EA-0607B392017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48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CF73F-8F87-4A4A-95EA-0607B3920179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02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F46C9F9-2A41-469B-A55B-A70F305A5CC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7DFB82A8-E707-4A03-80D6-64C50AE91DD4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0"/>
            <a:ext cx="4368800" cy="29972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Django Models &amp; ORM Lookup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Understanding Data Modeling and Database Queries in Django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498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Model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model is the single,definitive source of information about yours data.</a:t>
            </a:r>
          </a:p>
          <a:p>
            <a:r>
              <a:rPr lang="en-US" sz="2400" dirty="0" smtClean="0"/>
              <a:t>In Contains the essential fields and behaviors of the data you're storing</a:t>
            </a:r>
          </a:p>
          <a:p>
            <a:r>
              <a:rPr lang="en-US" sz="2400" dirty="0" smtClean="0"/>
              <a:t>Generally, each model maps to a single database table.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0504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457200"/>
            <a:ext cx="8534400" cy="533400"/>
          </a:xfrm>
        </p:spPr>
        <p:txBody>
          <a:bodyPr>
            <a:noAutofit/>
          </a:bodyPr>
          <a:lstStyle/>
          <a:p>
            <a:r>
              <a:rPr lang="en-US" sz="3200" dirty="0"/>
              <a:t>Model Class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Model class is a class which will represent a table in a database.</a:t>
            </a:r>
          </a:p>
          <a:p>
            <a:r>
              <a:rPr lang="en-US" sz="2400" dirty="0" smtClean="0"/>
              <a:t>Each model is a python class that subclasses djnago.db.models.Model</a:t>
            </a:r>
          </a:p>
          <a:p>
            <a:r>
              <a:rPr lang="en-US" sz="2400" dirty="0" smtClean="0"/>
              <a:t>Each attribute of the model represents a database field.</a:t>
            </a:r>
          </a:p>
          <a:p>
            <a:r>
              <a:rPr lang="en-US" sz="2400" dirty="0" smtClean="0"/>
              <a:t>With all of this, Django gives you an automatically-generated database-access API</a:t>
            </a:r>
          </a:p>
          <a:p>
            <a:r>
              <a:rPr lang="en-US" sz="2400" dirty="0" smtClean="0"/>
              <a:t>Django provides built-in database by default that is     sqlite database.</a:t>
            </a:r>
          </a:p>
          <a:p>
            <a:r>
              <a:rPr lang="en-US" sz="2400" dirty="0" smtClean="0"/>
              <a:t>We can use other database like MySQL, Oracle SQL etc.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2848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57200"/>
            <a:ext cx="7024744" cy="457200"/>
          </a:xfrm>
        </p:spPr>
        <p:txBody>
          <a:bodyPr>
            <a:noAutofit/>
          </a:bodyPr>
          <a:lstStyle/>
          <a:p>
            <a:r>
              <a:rPr lang="en-US" sz="3200" dirty="0" smtClean="0"/>
              <a:t>Create Our Own Model Class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 smtClean="0"/>
              <a:t>models.py file which is inside application folder, is required to create our own model class.</a:t>
            </a:r>
          </a:p>
          <a:p>
            <a:r>
              <a:rPr lang="en-US" sz="9600" dirty="0" smtClean="0"/>
              <a:t>our own model class will inherit python's Model class.</a:t>
            </a:r>
          </a:p>
          <a:p>
            <a:endParaRPr lang="en-US" sz="9600" dirty="0" smtClean="0"/>
          </a:p>
          <a:p>
            <a:r>
              <a:rPr lang="en-US" sz="9600" b="1" dirty="0" smtClean="0"/>
              <a:t>syntax</a:t>
            </a:r>
            <a:r>
              <a:rPr lang="en-US" sz="9600" b="1" dirty="0"/>
              <a:t>:-</a:t>
            </a:r>
            <a:r>
              <a:rPr lang="en-US" sz="9600" b="1" dirty="0" smtClean="0"/>
              <a:t>    </a:t>
            </a:r>
          </a:p>
          <a:p>
            <a:pPr marL="0" indent="0">
              <a:buNone/>
            </a:pPr>
            <a:r>
              <a:rPr lang="en-US" sz="9600" dirty="0" smtClean="0"/>
              <a:t>	class ClassName(models.FiledType(arg,options)</a:t>
            </a:r>
          </a:p>
          <a:p>
            <a:pPr marL="0" indent="0">
              <a:buNone/>
            </a:pPr>
            <a:endParaRPr lang="en-US" sz="9600" dirty="0" smtClean="0"/>
          </a:p>
          <a:p>
            <a:pPr marL="0" indent="0">
              <a:buNone/>
            </a:pPr>
            <a:r>
              <a:rPr lang="en-US" sz="9600" dirty="0" smtClean="0"/>
              <a:t>  </a:t>
            </a:r>
            <a:r>
              <a:rPr lang="en-US" sz="9600" b="1" dirty="0" smtClean="0"/>
              <a:t>Example:</a:t>
            </a:r>
          </a:p>
          <a:p>
            <a:pPr marL="0" indent="0">
              <a:buNone/>
            </a:pPr>
            <a:r>
              <a:rPr lang="en-US" sz="9600" b="1" dirty="0"/>
              <a:t> </a:t>
            </a:r>
            <a:r>
              <a:rPr lang="en-US" sz="9600" b="1" dirty="0" smtClean="0"/>
              <a:t>  	models.py</a:t>
            </a:r>
          </a:p>
          <a:p>
            <a:pPr marL="0" indent="0">
              <a:buNone/>
            </a:pPr>
            <a:r>
              <a:rPr lang="en-US" sz="9600" dirty="0" smtClean="0"/>
              <a:t>class Student(models.Model):</a:t>
            </a:r>
          </a:p>
          <a:p>
            <a:pPr lvl="2"/>
            <a:r>
              <a:rPr lang="en-US" sz="9000" dirty="0" smtClean="0"/>
              <a:t>stuid </a:t>
            </a:r>
            <a:r>
              <a:rPr lang="en-US" sz="9000" dirty="0"/>
              <a:t>= models.IntegerField()</a:t>
            </a:r>
          </a:p>
          <a:p>
            <a:pPr lvl="2"/>
            <a:r>
              <a:rPr lang="en-US" sz="9000" dirty="0" smtClean="0"/>
              <a:t>stuname = models.CharField(max_length=70)</a:t>
            </a:r>
          </a:p>
          <a:p>
            <a:pPr lvl="2"/>
            <a:r>
              <a:rPr lang="en-US" sz="9000" dirty="0" smtClean="0"/>
              <a:t>stuemail = models.EmailField(max_length=70)</a:t>
            </a:r>
          </a:p>
          <a:p>
            <a:pPr lvl="2"/>
            <a:r>
              <a:rPr lang="en-US" sz="9000" dirty="0" smtClean="0"/>
              <a:t>stupass = models.CharField(max_length=70)</a:t>
            </a:r>
          </a:p>
          <a:p>
            <a:endParaRPr lang="en-US" sz="7400" dirty="0" smtClean="0"/>
          </a:p>
        </p:txBody>
      </p:sp>
    </p:spTree>
    <p:extLst>
      <p:ext uri="{BB962C8B-B14F-4D97-AF65-F5344CB8AC3E}">
        <p14:creationId xmlns:p14="http://schemas.microsoft.com/office/powerpoint/2010/main" val="309815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dirty="0" smtClean="0"/>
              <a:t>In DB how is Table Show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This class will create a table with columns and their data types</a:t>
            </a:r>
          </a:p>
          <a:p>
            <a:r>
              <a:rPr lang="en-US" sz="2400" dirty="0" smtClean="0"/>
              <a:t>Table Name will be ApplicationName_ClassName, in this case it will be my_app_student</a:t>
            </a:r>
          </a:p>
          <a:p>
            <a:r>
              <a:rPr lang="en-US" sz="2400" dirty="0" smtClean="0"/>
              <a:t>Filed name will become table's Column Name, in this case it will be stuid,stuname,stuEmail,stupass with their datatypes.</a:t>
            </a:r>
          </a:p>
          <a:p>
            <a:r>
              <a:rPr lang="en-US" sz="2400" dirty="0" smtClean="0"/>
              <a:t>As we have not mentioned primary Key in any of these columns so it will automatically create a new column named 'id' </a:t>
            </a:r>
          </a:p>
          <a:p>
            <a:r>
              <a:rPr lang="en-US" sz="2400" dirty="0" smtClean="0"/>
              <a:t>Data Type integer with primary key and auto increment.</a:t>
            </a:r>
            <a:endParaRPr lang="en-IN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89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Rules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Field Name instantiated as a class attribute and represent a particular table's Column name.</a:t>
            </a:r>
          </a:p>
          <a:p>
            <a:r>
              <a:rPr lang="en-US" sz="2400" dirty="0" smtClean="0"/>
              <a:t>Field Type is also Known as Data Type.</a:t>
            </a:r>
          </a:p>
          <a:p>
            <a:r>
              <a:rPr lang="en-US" sz="2400" dirty="0" smtClean="0"/>
              <a:t>A filed name cannot be a python reserved word, because that would result in a python syntax error,</a:t>
            </a:r>
          </a:p>
          <a:p>
            <a:r>
              <a:rPr lang="en-US" sz="2400" dirty="0" smtClean="0"/>
              <a:t>A Filed name cannot contain more than one underscore in a row, due to the way Jingo's query lookup syntax Works.</a:t>
            </a:r>
          </a:p>
          <a:p>
            <a:r>
              <a:rPr lang="en-US" sz="2400" dirty="0" smtClean="0"/>
              <a:t>A filed name cannot end with an underscore.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6965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Makemigrations &amp; Migrate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153400" cy="5029199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sz="9600" dirty="0" smtClean="0"/>
              <a:t>Makemigrations:</a:t>
            </a:r>
          </a:p>
          <a:p>
            <a:r>
              <a:rPr lang="en-US" sz="9600" dirty="0" smtClean="0"/>
              <a:t> is used convert model class into sql statements. This will also create a file which will contain sql statements. This file is located in Application’s migrations folder.</a:t>
            </a:r>
          </a:p>
          <a:p>
            <a:pPr marL="0" indent="0">
              <a:buNone/>
            </a:pPr>
            <a:r>
              <a:rPr lang="en-US" sz="9600" dirty="0" smtClean="0"/>
              <a:t>                 syntax: python manage.py  makemigrations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sz="9600" dirty="0" smtClean="0"/>
              <a:t>Migrate</a:t>
            </a:r>
            <a:endParaRPr lang="en-US" sz="9600" dirty="0"/>
          </a:p>
          <a:p>
            <a:endParaRPr lang="en-US" sz="9600" dirty="0" smtClean="0"/>
          </a:p>
          <a:p>
            <a:r>
              <a:rPr lang="en-US" sz="9600" dirty="0" smtClean="0"/>
              <a:t>Is Used to execute sql statements generated by makemigrations. This command will execute All application’s (including bulit in applications)SQL statements is available After execution of sql statements table will be created.</a:t>
            </a:r>
            <a:br>
              <a:rPr lang="en-US" sz="9600" dirty="0" smtClean="0"/>
            </a:br>
            <a:r>
              <a:rPr lang="en-US" sz="9600" dirty="0" smtClean="0"/>
              <a:t/>
            </a:r>
            <a:br>
              <a:rPr lang="en-US" sz="9600" dirty="0" smtClean="0"/>
            </a:br>
            <a:r>
              <a:rPr lang="en-US" sz="9600" dirty="0" smtClean="0"/>
              <a:t>	Syntax: python manage.py migrate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Note: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/>
              <a:t>I</a:t>
            </a:r>
            <a:r>
              <a:rPr lang="en-US" sz="2400" dirty="0" smtClean="0"/>
              <a:t>f you make any changes in your own model class you are required to run makemigrations and migrate command only  then you will get those changes in your application.</a:t>
            </a:r>
            <a:endParaRPr lang="en-IN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04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ORM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What is Django ORM?</a:t>
            </a:r>
          </a:p>
          <a:p>
            <a:r>
              <a:rPr lang="en-US" sz="2400" dirty="0" smtClean="0"/>
              <a:t>ORM stands for </a:t>
            </a:r>
            <a:r>
              <a:rPr lang="en-US" sz="2400" b="1" dirty="0" smtClean="0"/>
              <a:t>Object-Relational Mapping</a:t>
            </a:r>
            <a:endParaRPr lang="en-US" sz="2400" dirty="0" smtClean="0"/>
          </a:p>
          <a:p>
            <a:r>
              <a:rPr lang="en-US" sz="2400" dirty="0" smtClean="0"/>
              <a:t>Converts database tables into Python classes</a:t>
            </a:r>
          </a:p>
          <a:p>
            <a:r>
              <a:rPr lang="en-US" sz="2400" dirty="0" smtClean="0"/>
              <a:t>Allows developers to work with Python objects instead of raw SQL</a:t>
            </a:r>
          </a:p>
          <a:p>
            <a:r>
              <a:rPr lang="en-US" sz="2400" dirty="0" smtClean="0"/>
              <a:t>Example:</a:t>
            </a:r>
            <a:br>
              <a:rPr lang="en-US" sz="2400" dirty="0" smtClean="0"/>
            </a:br>
            <a:r>
              <a:rPr lang="en-US" sz="2400" dirty="0" smtClean="0"/>
              <a:t>User.objects.all() returns a QuerySet of all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95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Lookup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953000"/>
          </a:xfrm>
        </p:spPr>
        <p:txBody>
          <a:bodyPr>
            <a:noAutofit/>
          </a:bodyPr>
          <a:lstStyle/>
          <a:p>
            <a:r>
              <a:rPr lang="en-US" dirty="0" smtClean="0"/>
              <a:t>What is a Lookup in Django ORM?</a:t>
            </a:r>
          </a:p>
          <a:p>
            <a:r>
              <a:rPr lang="en-IN" dirty="0" smtClean="0"/>
              <a:t>A </a:t>
            </a:r>
            <a:r>
              <a:rPr lang="en-IN" b="1" dirty="0" smtClean="0"/>
              <a:t>Lookup</a:t>
            </a:r>
            <a:r>
              <a:rPr lang="en-IN" dirty="0" smtClean="0"/>
              <a:t> is a way to specify </a:t>
            </a:r>
            <a:r>
              <a:rPr lang="en-IN" b="1" dirty="0" smtClean="0"/>
              <a:t>filtering conditions</a:t>
            </a:r>
            <a:r>
              <a:rPr lang="en-IN" dirty="0" smtClean="0"/>
              <a:t> on model fields</a:t>
            </a:r>
          </a:p>
          <a:p>
            <a:r>
              <a:rPr lang="en-US" dirty="0" smtClean="0"/>
              <a:t>Lookups help build powerful and readable queries</a:t>
            </a:r>
          </a:p>
          <a:p>
            <a:r>
              <a:rPr lang="en-US" dirty="0" smtClean="0"/>
              <a:t>Combine lookups for advanced filtering</a:t>
            </a:r>
          </a:p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User.objects.filter(age__gte=18, email__icontains='example.com')</a:t>
            </a:r>
          </a:p>
          <a:p>
            <a:r>
              <a:rPr lang="en-US" dirty="0" smtClean="0"/>
              <a:t>Saves time compared to writing raw SQL</a:t>
            </a:r>
          </a:p>
          <a:p>
            <a:r>
              <a:rPr lang="en-US" dirty="0" smtClean="0"/>
              <a:t>Django ORM is efficient and secure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87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57200"/>
            <a:ext cx="7024744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     List of Common Django ORM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1"/>
            <a:ext cx="4040188" cy="609600"/>
          </a:xfrm>
        </p:spPr>
        <p:txBody>
          <a:bodyPr/>
          <a:lstStyle/>
          <a:p>
            <a:r>
              <a:rPr lang="en-IN" dirty="0" smtClean="0"/>
              <a:t>Lookup </a:t>
            </a:r>
            <a:r>
              <a:rPr lang="en-IN" dirty="0"/>
              <a:t>Type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57400"/>
            <a:ext cx="4114800" cy="4648200"/>
          </a:xfrm>
        </p:spPr>
        <p:txBody>
          <a:bodyPr>
            <a:noAutofit/>
          </a:bodyPr>
          <a:lstStyle/>
          <a:p>
            <a:r>
              <a:rPr lang="en-IN" sz="2300" dirty="0" smtClean="0"/>
              <a:t>exact          </a:t>
            </a:r>
          </a:p>
          <a:p>
            <a:r>
              <a:rPr lang="en-IN" sz="2300" dirty="0" smtClean="0"/>
              <a:t>iexact</a:t>
            </a:r>
          </a:p>
          <a:p>
            <a:r>
              <a:rPr lang="en-IN" sz="2300" dirty="0" smtClean="0"/>
              <a:t>contains     </a:t>
            </a:r>
          </a:p>
          <a:p>
            <a:r>
              <a:rPr lang="en-IN" sz="2200" dirty="0" smtClean="0"/>
              <a:t>icontains</a:t>
            </a:r>
            <a:r>
              <a:rPr lang="en-IN" sz="2300" dirty="0" smtClean="0"/>
              <a:t>                 </a:t>
            </a:r>
          </a:p>
          <a:p>
            <a:r>
              <a:rPr lang="en-IN" sz="2300" dirty="0" smtClean="0"/>
              <a:t>in                              </a:t>
            </a:r>
          </a:p>
          <a:p>
            <a:r>
              <a:rPr lang="en-IN" sz="2300" dirty="0" smtClean="0"/>
              <a:t>gt                 	           </a:t>
            </a:r>
          </a:p>
          <a:p>
            <a:r>
              <a:rPr lang="en-IN" sz="2300" dirty="0" smtClean="0"/>
              <a:t>gte               </a:t>
            </a:r>
          </a:p>
          <a:p>
            <a:r>
              <a:rPr lang="en-IN" sz="2300" dirty="0" smtClean="0"/>
              <a:t>It  	            </a:t>
            </a:r>
          </a:p>
          <a:p>
            <a:r>
              <a:rPr lang="en-IN" sz="2300" dirty="0" smtClean="0"/>
              <a:t>Ite	</a:t>
            </a:r>
          </a:p>
          <a:p>
            <a:r>
              <a:rPr lang="en-IN" sz="2300" dirty="0" smtClean="0"/>
              <a:t>startswith   </a:t>
            </a:r>
          </a:p>
          <a:p>
            <a:r>
              <a:rPr lang="en-IN" sz="2300" dirty="0" smtClean="0"/>
              <a:t>istartswith  </a:t>
            </a:r>
            <a:endParaRPr lang="en-IN" sz="23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447801"/>
            <a:ext cx="4041775" cy="609600"/>
          </a:xfrm>
        </p:spPr>
        <p:txBody>
          <a:bodyPr/>
          <a:lstStyle/>
          <a:p>
            <a:r>
              <a:rPr lang="en-IN" dirty="0" smtClean="0"/>
              <a:t>Description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57400"/>
            <a:ext cx="4041775" cy="4724400"/>
          </a:xfrm>
        </p:spPr>
        <p:txBody>
          <a:bodyPr>
            <a:normAutofit fontScale="55000" lnSpcReduction="20000"/>
          </a:bodyPr>
          <a:lstStyle/>
          <a:p>
            <a:r>
              <a:rPr lang="en-IN" sz="3600" dirty="0" smtClean="0"/>
              <a:t>Exact match</a:t>
            </a:r>
          </a:p>
          <a:p>
            <a:r>
              <a:rPr lang="en-IN" sz="3600" dirty="0" smtClean="0"/>
              <a:t>Case-insensitive exact</a:t>
            </a:r>
          </a:p>
          <a:p>
            <a:r>
              <a:rPr lang="en-US" sz="3600" dirty="0"/>
              <a:t>Field contains a value (</a:t>
            </a:r>
            <a:r>
              <a:rPr lang="en-US" sz="3600" dirty="0" smtClean="0"/>
              <a:t>case-sensitive)</a:t>
            </a:r>
          </a:p>
          <a:p>
            <a:r>
              <a:rPr lang="en-US" sz="3600" dirty="0" smtClean="0"/>
              <a:t> Field </a:t>
            </a:r>
            <a:r>
              <a:rPr lang="en-US" sz="3600" dirty="0"/>
              <a:t>contains a value (case-insensitive</a:t>
            </a:r>
            <a:r>
              <a:rPr lang="en-US" sz="3600" dirty="0" smtClean="0"/>
              <a:t>)</a:t>
            </a:r>
          </a:p>
          <a:p>
            <a:r>
              <a:rPr lang="en-US" sz="3600" dirty="0" smtClean="0"/>
              <a:t> Field is in a list of values</a:t>
            </a:r>
          </a:p>
          <a:p>
            <a:r>
              <a:rPr lang="en-IN" sz="3600" dirty="0" smtClean="0"/>
              <a:t>Greater than</a:t>
            </a:r>
          </a:p>
          <a:p>
            <a:r>
              <a:rPr lang="en-US" sz="3600" dirty="0" smtClean="0"/>
              <a:t>Greater than or equal to</a:t>
            </a:r>
          </a:p>
          <a:p>
            <a:r>
              <a:rPr lang="en-IN" sz="3600" dirty="0" smtClean="0"/>
              <a:t>Less than</a:t>
            </a:r>
          </a:p>
          <a:p>
            <a:r>
              <a:rPr lang="en-IN" sz="3600" dirty="0" smtClean="0"/>
              <a:t>Less than or equal to</a:t>
            </a:r>
          </a:p>
          <a:p>
            <a:r>
              <a:rPr lang="en-US" sz="3600" dirty="0" smtClean="0"/>
              <a:t>Field starts with a value(case-sensitive)</a:t>
            </a:r>
            <a:endParaRPr lang="en-IN" sz="3600" dirty="0" smtClean="0"/>
          </a:p>
          <a:p>
            <a:endParaRPr lang="en-US" sz="3600" dirty="0" smtClean="0"/>
          </a:p>
          <a:p>
            <a:r>
              <a:rPr lang="en-US" sz="3600" dirty="0" smtClean="0"/>
              <a:t>Field starts with a value(case-insensitive)</a:t>
            </a:r>
            <a:endParaRPr lang="en-IN" sz="3600" dirty="0" smtClean="0"/>
          </a:p>
          <a:p>
            <a:endParaRPr lang="en-IN" sz="2200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85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533400"/>
            <a:ext cx="6096000" cy="9144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 	</a:t>
            </a:r>
            <a:r>
              <a:rPr lang="en-US" sz="2800" b="1" dirty="0" smtClean="0"/>
              <a:t>List </a:t>
            </a:r>
            <a:r>
              <a:rPr lang="en-US" sz="2800" b="1" dirty="0"/>
              <a:t>of Common Django ORM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023360" cy="7620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Lookup Type</a:t>
            </a:r>
            <a:endParaRPr lang="en-IN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590800"/>
            <a:ext cx="3962399" cy="4114800"/>
          </a:xfrm>
        </p:spPr>
        <p:txBody>
          <a:bodyPr>
            <a:normAutofit/>
          </a:bodyPr>
          <a:lstStyle/>
          <a:p>
            <a:r>
              <a:rPr lang="en-IN" dirty="0" smtClean="0"/>
              <a:t>isnull</a:t>
            </a:r>
          </a:p>
          <a:p>
            <a:r>
              <a:rPr lang="en-IN" dirty="0"/>
              <a:t>r</a:t>
            </a:r>
            <a:r>
              <a:rPr lang="en-IN" dirty="0" smtClean="0"/>
              <a:t>ange</a:t>
            </a:r>
          </a:p>
          <a:p>
            <a:r>
              <a:rPr lang="en-IN" dirty="0" smtClean="0"/>
              <a:t>endswith</a:t>
            </a:r>
          </a:p>
          <a:p>
            <a:r>
              <a:rPr lang="en-IN" dirty="0" smtClean="0"/>
              <a:t>iendswith</a:t>
            </a:r>
          </a:p>
          <a:p>
            <a:r>
              <a:rPr lang="en-IN" dirty="0"/>
              <a:t>r</a:t>
            </a:r>
            <a:r>
              <a:rPr lang="en-IN" dirty="0" smtClean="0"/>
              <a:t>egex</a:t>
            </a:r>
          </a:p>
          <a:p>
            <a:r>
              <a:rPr lang="en-IN" dirty="0" smtClean="0"/>
              <a:t>iregex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219200"/>
            <a:ext cx="4023360" cy="9144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Description</a:t>
            </a:r>
            <a:endParaRPr lang="en-IN" sz="24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09800"/>
            <a:ext cx="4114800" cy="449580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Field is null (True or False)</a:t>
            </a:r>
          </a:p>
          <a:p>
            <a:r>
              <a:rPr lang="en-US" sz="2400" dirty="0" smtClean="0"/>
              <a:t>Field </a:t>
            </a:r>
            <a:r>
              <a:rPr lang="en-US" sz="2400" dirty="0"/>
              <a:t>is within a range of values</a:t>
            </a:r>
            <a:endParaRPr lang="en-US" sz="2400" dirty="0" smtClean="0"/>
          </a:p>
          <a:p>
            <a:r>
              <a:rPr lang="en-US" sz="2400" dirty="0" smtClean="0"/>
              <a:t>  Field ends with a value (case-sensitive)</a:t>
            </a:r>
          </a:p>
          <a:p>
            <a:r>
              <a:rPr lang="en-US" sz="2400" dirty="0"/>
              <a:t>Field ends with a value (case-insensitive)</a:t>
            </a:r>
            <a:r>
              <a:rPr lang="en-US" sz="2400" dirty="0" smtClean="0"/>
              <a:t>      </a:t>
            </a:r>
          </a:p>
          <a:p>
            <a:r>
              <a:rPr lang="en-US" sz="2400" dirty="0"/>
              <a:t>Field matches a regular expression (case-sensitive)</a:t>
            </a:r>
            <a:r>
              <a:rPr lang="en-US" sz="2400" dirty="0" smtClean="0"/>
              <a:t>    </a:t>
            </a:r>
          </a:p>
          <a:p>
            <a:r>
              <a:rPr lang="en-US" sz="2400" dirty="0" smtClean="0"/>
              <a:t> Field matches a regular expression (case-insensitive</a:t>
            </a:r>
            <a:r>
              <a:rPr lang="en-US" sz="2000" dirty="0" smtClean="0"/>
              <a:t>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8115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			</a:t>
            </a:r>
            <a:r>
              <a:rPr lang="en-IN" sz="3200" dirty="0" smtClean="0"/>
              <a:t>Special Lookups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  Lookup Type</a:t>
            </a:r>
            <a:endParaRPr lang="en-IN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819400"/>
            <a:ext cx="4023360" cy="3124200"/>
          </a:xfrm>
        </p:spPr>
        <p:txBody>
          <a:bodyPr>
            <a:normAutofit/>
          </a:bodyPr>
          <a:lstStyle/>
          <a:p>
            <a:r>
              <a:rPr lang="en-IN" dirty="0" smtClean="0"/>
              <a:t>year, month, day, week_day</a:t>
            </a:r>
          </a:p>
          <a:p>
            <a:r>
              <a:rPr lang="en-IN" dirty="0" smtClean="0"/>
              <a:t>Date</a:t>
            </a:r>
          </a:p>
          <a:p>
            <a:r>
              <a:rPr lang="en-IN" dirty="0" smtClean="0"/>
              <a:t>Time</a:t>
            </a:r>
          </a:p>
          <a:p>
            <a:r>
              <a:rPr lang="en-IN" dirty="0" smtClean="0"/>
              <a:t>search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Description</a:t>
            </a:r>
            <a:endParaRPr lang="en-IN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816352"/>
            <a:ext cx="4023360" cy="2898648"/>
          </a:xfrm>
        </p:spPr>
        <p:txBody>
          <a:bodyPr>
            <a:normAutofit/>
          </a:bodyPr>
          <a:lstStyle/>
          <a:p>
            <a:r>
              <a:rPr lang="en-IN" dirty="0" smtClean="0"/>
              <a:t>For date fields</a:t>
            </a:r>
          </a:p>
          <a:p>
            <a:r>
              <a:rPr lang="en-IN" dirty="0" smtClean="0"/>
              <a:t>Exact match on date</a:t>
            </a:r>
          </a:p>
          <a:p>
            <a:r>
              <a:rPr lang="en-IN" dirty="0" smtClean="0"/>
              <a:t>Exact match on time</a:t>
            </a:r>
          </a:p>
          <a:p>
            <a:r>
              <a:rPr lang="en-US" dirty="0" smtClean="0"/>
              <a:t>Full-text search (depends on backend)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31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/>
          <a:p>
            <a:r>
              <a:rPr lang="en-IN" sz="3600" dirty="0" smtClean="0"/>
              <a:t>Used of Lookups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 fontScale="55000" lnSpcReduction="20000"/>
          </a:bodyPr>
          <a:lstStyle/>
          <a:p>
            <a:r>
              <a:rPr lang="en-US" sz="3800" b="1" dirty="0" smtClean="0"/>
              <a:t>1 Exact Lookup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4000" dirty="0" smtClean="0"/>
              <a:t>Find student whose name is exactly “Gayatri":</a:t>
            </a:r>
          </a:p>
          <a:p>
            <a:endParaRPr lang="en-US" sz="4000" dirty="0" smtClean="0"/>
          </a:p>
          <a:p>
            <a:r>
              <a:rPr lang="en-US" sz="3800" b="1" dirty="0" smtClean="0"/>
              <a:t>2 IExact (Case-insensitive Exact)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4000" dirty="0" smtClean="0"/>
              <a:t>Find student whose email is exactly "gayatri@example.com" (case insensitive):</a:t>
            </a:r>
          </a:p>
          <a:p>
            <a:pPr marL="0" indent="0">
              <a:buNone/>
            </a:pPr>
            <a:r>
              <a:rPr lang="en-US" sz="4000" dirty="0" smtClean="0"/>
              <a:t>	Student.objects.filter(stuemail__iexact</a:t>
            </a:r>
            <a:r>
              <a:rPr lang="en-US" sz="4000" dirty="0"/>
              <a:t>=' </a:t>
            </a:r>
            <a:r>
              <a:rPr lang="en-US" sz="4000" dirty="0" smtClean="0"/>
              <a:t>gayatri	@</a:t>
            </a:r>
            <a:r>
              <a:rPr lang="en-US" sz="4000" dirty="0"/>
              <a:t>example.com</a:t>
            </a:r>
            <a:r>
              <a:rPr lang="en-US" sz="4000" dirty="0" smtClean="0"/>
              <a:t>')</a:t>
            </a:r>
          </a:p>
          <a:p>
            <a:endParaRPr lang="en-US" sz="4000" dirty="0" smtClean="0"/>
          </a:p>
          <a:p>
            <a:r>
              <a:rPr lang="en-US" sz="3800" b="1" dirty="0" smtClean="0"/>
              <a:t>3 Contains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4000" dirty="0" smtClean="0"/>
              <a:t>Find students whose name contains “Gay":</a:t>
            </a:r>
          </a:p>
          <a:p>
            <a:pPr marL="0" indent="0">
              <a:buNone/>
            </a:pPr>
            <a:r>
              <a:rPr lang="en-US" sz="4000" dirty="0" smtClean="0"/>
              <a:t>	Student.objects.filter(stuname__contains=‘Gay’)</a:t>
            </a:r>
          </a:p>
          <a:p>
            <a:endParaRPr lang="en-US" sz="4900" dirty="0" smtClean="0"/>
          </a:p>
          <a:p>
            <a:r>
              <a:rPr lang="en-IN" sz="3800" b="1" dirty="0" smtClean="0"/>
              <a:t>4 </a:t>
            </a:r>
            <a:r>
              <a:rPr lang="en-IN" sz="3800" b="1" dirty="0" smtClean="0"/>
              <a:t>IContains (Case-insensitive Contains</a:t>
            </a:r>
            <a:r>
              <a:rPr lang="en-IN" b="1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sz="4000" dirty="0" smtClean="0"/>
              <a:t>Find students whose name contains “gay" </a:t>
            </a:r>
            <a:endParaRPr lang="en-IN" sz="4000" dirty="0" smtClean="0"/>
          </a:p>
          <a:p>
            <a:pPr marL="0" indent="0">
              <a:buNone/>
            </a:pPr>
            <a:r>
              <a:rPr lang="en-IN" sz="4000"/>
              <a:t>	</a:t>
            </a:r>
            <a:r>
              <a:rPr lang="en-IN" sz="4000" smtClean="0"/>
              <a:t>(</a:t>
            </a:r>
            <a:r>
              <a:rPr lang="en-IN" sz="4000" dirty="0" smtClean="0"/>
              <a:t>case insensitive</a:t>
            </a:r>
            <a:r>
              <a:rPr lang="en-IN" sz="4000" dirty="0" smtClean="0"/>
              <a:t>):</a:t>
            </a:r>
          </a:p>
          <a:p>
            <a:pPr marL="0" indent="0">
              <a:buNone/>
            </a:pPr>
            <a:r>
              <a:rPr lang="en-IN" sz="4000" dirty="0" smtClean="0"/>
              <a:t>	Student.objects.filter(stuname__icontains=‘gay’)</a:t>
            </a:r>
          </a:p>
          <a:p>
            <a:pPr marL="0" indent="0">
              <a:buNone/>
            </a:pPr>
            <a:endParaRPr lang="en-US" sz="29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633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1"/>
            <a:ext cx="8686800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r>
              <a:rPr lang="en-US" sz="2400" b="1" dirty="0" smtClean="0"/>
              <a:t>5 In</a:t>
            </a:r>
          </a:p>
          <a:p>
            <a:r>
              <a:rPr lang="en-US" sz="1400" dirty="0" smtClean="0"/>
              <a:t>	</a:t>
            </a:r>
            <a:r>
              <a:rPr lang="en-US" sz="2200" dirty="0" smtClean="0"/>
              <a:t>Find students whose stuid is in a list:</a:t>
            </a:r>
          </a:p>
          <a:p>
            <a:r>
              <a:rPr lang="en-US" sz="2200" dirty="0" smtClean="0"/>
              <a:t>	Student.objects.filter(stuid__in=[1, 2, 3])</a:t>
            </a:r>
          </a:p>
          <a:p>
            <a:endParaRPr lang="en-US" sz="2200" b="1" dirty="0" smtClean="0"/>
          </a:p>
          <a:p>
            <a:r>
              <a:rPr lang="en-US" sz="2400" b="1" dirty="0" smtClean="0"/>
              <a:t>6 greater Than (gt) / Less Than (lt)</a:t>
            </a:r>
          </a:p>
          <a:p>
            <a:r>
              <a:rPr lang="en-US" sz="1400" dirty="0" smtClean="0"/>
              <a:t>	</a:t>
            </a:r>
            <a:r>
              <a:rPr lang="en-US" sz="2200" dirty="0" smtClean="0"/>
              <a:t>Find students whose stuid is greater than 5:</a:t>
            </a:r>
          </a:p>
          <a:p>
            <a:r>
              <a:rPr lang="en-US" sz="2200" dirty="0" smtClean="0"/>
              <a:t>	Student.objects.filter(stuid__gt=5) </a:t>
            </a:r>
          </a:p>
          <a:p>
            <a:pPr lvl="1"/>
            <a:endParaRPr lang="en-US" sz="2200" dirty="0"/>
          </a:p>
          <a:p>
            <a:pPr lvl="2"/>
            <a:r>
              <a:rPr lang="en-US" sz="2200" dirty="0" smtClean="0"/>
              <a:t>Find students whose stuid is less than 10:</a:t>
            </a:r>
          </a:p>
          <a:p>
            <a:pPr lvl="2"/>
            <a:r>
              <a:rPr lang="en-US" sz="2200" dirty="0" smtClean="0"/>
              <a:t>Student.objects.filter(stuid__lt=10)</a:t>
            </a:r>
          </a:p>
          <a:p>
            <a:endParaRPr lang="en-US" dirty="0"/>
          </a:p>
          <a:p>
            <a:r>
              <a:rPr lang="en-US" sz="2400" b="1" dirty="0" smtClean="0"/>
              <a:t>7 range</a:t>
            </a:r>
          </a:p>
          <a:p>
            <a:pPr lvl="1"/>
            <a:r>
              <a:rPr lang="en-US" sz="2200" dirty="0" smtClean="0"/>
              <a:t>Find students whose stuid is between 1 and 10:</a:t>
            </a:r>
          </a:p>
          <a:p>
            <a:pPr lvl="1"/>
            <a:r>
              <a:rPr lang="en-US" sz="2200" dirty="0" smtClean="0"/>
              <a:t>Student.objects.filter(stuid__range=(1, 10))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400" b="1" dirty="0" smtClean="0"/>
              <a:t>8 Is Null</a:t>
            </a:r>
          </a:p>
          <a:p>
            <a:pPr lvl="1"/>
            <a:r>
              <a:rPr lang="en-US" sz="2200" dirty="0" smtClean="0"/>
              <a:t>Find students whose email is null:</a:t>
            </a:r>
          </a:p>
          <a:p>
            <a:pPr lvl="1"/>
            <a:r>
              <a:rPr lang="en-US" sz="2200" dirty="0" smtClean="0"/>
              <a:t>Student.objects.filter(stuemail__isnull=True)</a:t>
            </a:r>
          </a:p>
          <a:p>
            <a:endParaRPr lang="en-US" dirty="0"/>
          </a:p>
          <a:p>
            <a:endParaRPr lang="en-IN" dirty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82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52400" y="0"/>
            <a:ext cx="8763000" cy="11172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b="1" dirty="0" smtClean="0"/>
          </a:p>
          <a:p>
            <a:r>
              <a:rPr lang="en-IN" sz="2400" b="1" dirty="0" smtClean="0"/>
              <a:t>9 Startswith / Istartswith</a:t>
            </a:r>
          </a:p>
          <a:p>
            <a:pPr lvl="1"/>
            <a:r>
              <a:rPr lang="en-IN" sz="2200" dirty="0" smtClean="0"/>
              <a:t>Students whose name starts with "Gay":</a:t>
            </a:r>
          </a:p>
          <a:p>
            <a:pPr lvl="1"/>
            <a:r>
              <a:rPr lang="en-IN" sz="2200" dirty="0" smtClean="0"/>
              <a:t>Student.objects.filter(stuname__startswith='Gay') </a:t>
            </a:r>
          </a:p>
          <a:p>
            <a:pPr lvl="1"/>
            <a:r>
              <a:rPr lang="en-IN" sz="2200" dirty="0" smtClean="0"/>
              <a:t>Case-insensitive version:</a:t>
            </a:r>
          </a:p>
          <a:p>
            <a:pPr lvl="1"/>
            <a:r>
              <a:rPr lang="en-IN" sz="2200" dirty="0" smtClean="0"/>
              <a:t>Student.objects.filter(stuname__istartswith='gay')</a:t>
            </a:r>
          </a:p>
          <a:p>
            <a:endParaRPr lang="en-IN" sz="2400" dirty="0" smtClean="0"/>
          </a:p>
          <a:p>
            <a:r>
              <a:rPr lang="en-IN" sz="2400" b="1" dirty="0" smtClean="0"/>
              <a:t>10  Endswith / Iendswith</a:t>
            </a:r>
          </a:p>
          <a:p>
            <a:pPr lvl="1"/>
            <a:r>
              <a:rPr lang="en-IN" sz="2200" dirty="0" smtClean="0"/>
              <a:t>Students whose email ends with "example.com":</a:t>
            </a:r>
          </a:p>
          <a:p>
            <a:pPr lvl="1"/>
            <a:r>
              <a:rPr lang="en-IN" sz="2200" dirty="0" smtClean="0"/>
              <a:t>Student.objects.filter(stuemail__endswith='example.com') </a:t>
            </a:r>
          </a:p>
          <a:p>
            <a:pPr lvl="1"/>
            <a:r>
              <a:rPr lang="en-IN" sz="2200" dirty="0" smtClean="0"/>
              <a:t>Case-insensitive version:</a:t>
            </a:r>
          </a:p>
          <a:p>
            <a:pPr lvl="1"/>
            <a:r>
              <a:rPr lang="en-IN" sz="2200" dirty="0" smtClean="0"/>
              <a:t>Student.objects.filter(stuemail__iendswith='example.com')</a:t>
            </a:r>
          </a:p>
          <a:p>
            <a:endParaRPr lang="en-IN" sz="2400" dirty="0"/>
          </a:p>
          <a:p>
            <a:r>
              <a:rPr lang="en-IN" sz="2400" b="1" dirty="0" smtClean="0"/>
              <a:t>Example: </a:t>
            </a:r>
          </a:p>
          <a:p>
            <a:r>
              <a:rPr lang="en-IN" sz="2400" b="1" dirty="0" smtClean="0"/>
              <a:t>Combining Lookups</a:t>
            </a:r>
          </a:p>
          <a:p>
            <a:endParaRPr lang="en-IN" sz="2400" dirty="0" smtClean="0"/>
          </a:p>
          <a:p>
            <a:r>
              <a:rPr lang="en-US" sz="2200" dirty="0" smtClean="0"/>
              <a:t>Find students whose stuname contains "Gay" and stuid is greater than 5:</a:t>
            </a:r>
          </a:p>
          <a:p>
            <a:r>
              <a:rPr lang="en-IN" sz="2200" dirty="0" smtClean="0"/>
              <a:t>Student.objects.filter(stuname__icontains='gay', stuid__gt=5)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pPr algn="just"/>
            <a:r>
              <a:rPr lang="en-IN" dirty="0" smtClean="0"/>
              <a:t>		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64219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0800000">
            <a:off x="1447800" y="1066800"/>
            <a:ext cx="541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 smtClean="0"/>
              <a:t>		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762000" y="1066798"/>
            <a:ext cx="716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9600" dirty="0" smtClean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76638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1630</TotalTime>
  <Words>705</Words>
  <Application>Microsoft Office PowerPoint</Application>
  <PresentationFormat>On-screen Show (4:3)</PresentationFormat>
  <Paragraphs>194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Clarity</vt:lpstr>
      <vt:lpstr>Django Models &amp; ORM Lookup</vt:lpstr>
      <vt:lpstr>Model</vt:lpstr>
      <vt:lpstr>Model Class</vt:lpstr>
      <vt:lpstr>Create Our Own Model Class</vt:lpstr>
      <vt:lpstr>In DB how is Table Show</vt:lpstr>
      <vt:lpstr>Rules</vt:lpstr>
      <vt:lpstr>Makemigrations &amp; Migrate</vt:lpstr>
      <vt:lpstr>Note:</vt:lpstr>
      <vt:lpstr>ORM</vt:lpstr>
      <vt:lpstr>Lookup</vt:lpstr>
      <vt:lpstr>     List of Common Django ORM</vt:lpstr>
      <vt:lpstr>  List of Common Django ORM</vt:lpstr>
      <vt:lpstr>   Special Lookups</vt:lpstr>
      <vt:lpstr>Used of Lookups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Models &amp; ORM Lookup</dc:title>
  <dc:creator>Gayatri Rajput</dc:creator>
  <cp:lastModifiedBy>Gayatri Rajput</cp:lastModifiedBy>
  <cp:revision>31</cp:revision>
  <dcterms:created xsi:type="dcterms:W3CDTF">2025-09-15T06:40:39Z</dcterms:created>
  <dcterms:modified xsi:type="dcterms:W3CDTF">2025-09-19T06:31:52Z</dcterms:modified>
</cp:coreProperties>
</file>